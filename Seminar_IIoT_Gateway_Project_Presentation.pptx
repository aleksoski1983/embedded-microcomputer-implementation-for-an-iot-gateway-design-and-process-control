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sz="2000"/>
              <a:t>Embedded Microcomputer Implementation for an IoT 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2000"/>
              <a:t>Seminar Presentation</a:t>
            </a:r>
          </a:p>
          <a:p>
            <a:pPr/>
            <a:r>
              <a:rPr sz="2000"/>
              <a:t>Raspberry Pi 5 IIoT Gateway + Pico W Sensor + PLC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Project motivation and objectives</a:t>
            </a:r>
          </a:p>
          <a:p>
            <a:pPr/>
            <a:r>
              <a:rPr sz="2000"/>
              <a:t>System architecture and data flow</a:t>
            </a:r>
          </a:p>
          <a:p>
            <a:pPr/>
            <a:r>
              <a:rPr sz="2000"/>
              <a:t>Hardware and software stack</a:t>
            </a:r>
          </a:p>
          <a:p>
            <a:pPr/>
            <a:r>
              <a:rPr sz="2000"/>
              <a:t>Key implementation features</a:t>
            </a:r>
          </a:p>
          <a:p>
            <a:pPr/>
            <a:r>
              <a:rPr sz="2000"/>
              <a:t>Deployment, testing, and results</a:t>
            </a:r>
          </a:p>
          <a:p>
            <a:pPr/>
            <a:r>
              <a:rPr sz="2000"/>
              <a:t>Challenges, future improvements,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Industrial systems require interoperability between OT devices and IT analytics platforms.</a:t>
            </a:r>
          </a:p>
          <a:p>
            <a:pPr/>
            <a:r>
              <a:rPr sz="2000"/>
              <a:t>Legacy PLC systems must work with modern wireless sensing and real-time monitoring.</a:t>
            </a:r>
          </a:p>
          <a:p>
            <a:pPr/>
            <a:r>
              <a:rPr sz="2000"/>
              <a:t>Target: build a practical, low-cost gateway bridging MQTT, OPC UA, and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Implement IIoT gateway on Raspberry Pi 5 for process control workflows.</a:t>
            </a:r>
          </a:p>
          <a:p>
            <a:pPr/>
            <a:r>
              <a:rPr sz="2000"/>
              <a:t>Integrate Raspberry Pi Pico W sensor nodes with MQTT telemetry.</a:t>
            </a:r>
          </a:p>
          <a:p>
            <a:pPr/>
            <a:r>
              <a:rPr sz="2000"/>
              <a:t>Connect Siemens S7-1500 PLC via OPC UA client.</a:t>
            </a:r>
          </a:p>
          <a:p>
            <a:pPr/>
            <a:r>
              <a:rPr sz="2000"/>
              <a:t>Expose MQTT telemetry as OPC UA variables for interoperability.</a:t>
            </a:r>
          </a:p>
          <a:p>
            <a:pPr/>
            <a:r>
              <a:rPr sz="2000"/>
              <a:t>Store historical data in PostgreSQL and visualize in Grafana.</a:t>
            </a:r>
          </a:p>
          <a:p>
            <a:pPr/>
            <a:r>
              <a:rPr sz="2000"/>
              <a:t>Provide web-based configuration and diagnostics.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Pico W (MQTT) → Gateway → OPC UA Server exposure + Database storage</a:t>
            </a:r>
          </a:p>
          <a:p>
            <a:pPr/>
            <a:r>
              <a:rPr sz="2000"/>
              <a:t>Siemens S7-1500 (OPC UA) → Gateway OPC UA Client → Database</a:t>
            </a:r>
          </a:p>
          <a:p>
            <a:pPr/>
            <a:r>
              <a:rPr sz="2000"/>
              <a:t>PostgreSQL → Grafana dashboards + Flask Web UI</a:t>
            </a:r>
          </a:p>
          <a:p>
            <a:pPr/>
            <a:r>
              <a:rPr sz="2000"/>
              <a:t>Gateway acts as protocol bridge, data processor, and control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Raspberry Pi 5: central gateway hardware</a:t>
            </a:r>
          </a:p>
          <a:p>
            <a:pPr/>
            <a:r>
              <a:rPr sz="2000"/>
              <a:t>Raspberry Pi Pico W: Wi-Fi edge sensor node (DHT22 + OLED)</a:t>
            </a:r>
          </a:p>
          <a:p>
            <a:pPr/>
            <a:r>
              <a:rPr sz="2000"/>
              <a:t>Siemens S7-1500 PLC: industrial control data source</a:t>
            </a:r>
          </a:p>
          <a:p>
            <a:pPr/>
            <a:r>
              <a:rPr sz="2000"/>
              <a:t>Network services: Mosquitto broker, PostgreSQL, Grafana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Gateway Software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Flask app with REST API and real-time dashboard</a:t>
            </a:r>
          </a:p>
          <a:p>
            <a:pPr/>
            <a:r>
              <a:rPr sz="2000"/>
              <a:t>MQTT service: topic subscriptions and data ingestion</a:t>
            </a:r>
          </a:p>
          <a:p>
            <a:pPr/>
            <a:r>
              <a:rPr sz="2000"/>
              <a:t>OPC UA server service: expose selected MQTT variables</a:t>
            </a:r>
          </a:p>
          <a:p>
            <a:pPr/>
            <a:r>
              <a:rPr sz="2000"/>
              <a:t>OPC UA client service: browse/read PLC variables</a:t>
            </a:r>
          </a:p>
          <a:p>
            <a:pPr/>
            <a:r>
              <a:rPr sz="2000"/>
              <a:t>Database service: persistence for telemetry and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Pico W Sensor Node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DHT22 temperature/humidity acquisition</a:t>
            </a:r>
          </a:p>
          <a:p>
            <a:pPr/>
            <a:r>
              <a:rPr sz="2000"/>
              <a:t>MQTT publishing via lwIP MQTT implementation</a:t>
            </a:r>
          </a:p>
          <a:p>
            <a:pPr/>
            <a:r>
              <a:rPr sz="2000"/>
              <a:t>OLED status display (SSD1306)</a:t>
            </a:r>
          </a:p>
          <a:p>
            <a:pPr/>
            <a:r>
              <a:rPr sz="2000"/>
              <a:t>Local web dashboard and JSON API</a:t>
            </a:r>
          </a:p>
          <a:p>
            <a:pPr/>
            <a:r>
              <a:rPr sz="2000"/>
              <a:t>Flash-persistent config and setup AP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Key Features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MQTT-to-OPC UA bridge for protocol interoperability</a:t>
            </a:r>
          </a:p>
          <a:p>
            <a:pPr/>
            <a:r>
              <a:rPr sz="2000"/>
              <a:t>Web UI for variable browsing and configuration</a:t>
            </a:r>
          </a:p>
          <a:p>
            <a:pPr/>
            <a:r>
              <a:rPr sz="2000"/>
              <a:t>Real-time status monitoring for MQTT/OPC UA/Database</a:t>
            </a:r>
          </a:p>
          <a:p>
            <a:pPr/>
            <a:r>
              <a:rPr sz="2000"/>
              <a:t>Historical data analysis with Grafana integration</a:t>
            </a:r>
          </a:p>
          <a:p>
            <a:pPr/>
            <a:r>
              <a:rPr sz="2000"/>
              <a:t>Operational troubleshooting guides and structured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Deployment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Platform: Raspberry Pi OS + Python 3.9+ + Mosquitto + PostgreSQL + Grafana</a:t>
            </a:r>
          </a:p>
          <a:p>
            <a:pPr/>
            <a:r>
              <a:rPr sz="2000"/>
              <a:t>Deployment via virtual environment and requirements-based setup</a:t>
            </a:r>
          </a:p>
          <a:p>
            <a:pPr/>
            <a:r>
              <a:rPr sz="2000"/>
              <a:t>Production startup supported through systemd service</a:t>
            </a:r>
          </a:p>
          <a:p>
            <a:pPr/>
            <a:r>
              <a:rPr sz="2000"/>
              <a:t>Validation focus: connectivity, API behavior, data persistence, UI correctness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Challenge: integrating heterogeneous protocols (MQTT and OPC UA)</a:t>
            </a:r>
          </a:p>
          <a:p>
            <a:pPr lvl="1"/>
            <a:r>
              <a:rPr sz="1800"/>
              <a:t>Solution: dedicated gateway bridge architecture</a:t>
            </a:r>
          </a:p>
          <a:p>
            <a:pPr/>
            <a:r>
              <a:rPr sz="2000"/>
              <a:t>Challenge: maintaining visibility and diagnostics</a:t>
            </a:r>
          </a:p>
          <a:p>
            <a:pPr lvl="1"/>
            <a:r>
              <a:rPr sz="1800"/>
              <a:t>Solution: unified dashboard, API status endpoints, and logs</a:t>
            </a:r>
          </a:p>
          <a:p>
            <a:pPr/>
            <a:r>
              <a:rPr sz="2000"/>
              <a:t>Challenge: robust edge deployment behavior</a:t>
            </a:r>
          </a:p>
          <a:p>
            <a:pPr lvl="1"/>
            <a:r>
              <a:rPr sz="1800"/>
              <a:t>Solution: persistent configuration and guided troubleshooting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Security hardening with authentication and TLS end-to-end</a:t>
            </a:r>
          </a:p>
          <a:p>
            <a:pPr/>
            <a:r>
              <a:rPr sz="2000"/>
              <a:t>Additional protocol and sensor support</a:t>
            </a:r>
          </a:p>
          <a:p>
            <a:pPr/>
            <a:r>
              <a:rPr sz="2000"/>
              <a:t>Edge analytics/anomaly detection at gateway layer</a:t>
            </a:r>
          </a:p>
          <a:p>
            <a:pPr/>
            <a:r>
              <a:rPr sz="2000"/>
              <a:t>Alerting and notification workflows</a:t>
            </a:r>
          </a:p>
          <a:p>
            <a:pPr/>
            <a:r>
              <a:rPr sz="2000"/>
              <a:t>Containerized deployment and CI/CD automation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Project demonstrates a practical IIoT gateway for process-control integration.</a:t>
            </a:r>
          </a:p>
          <a:p>
            <a:pPr/>
            <a:r>
              <a:rPr sz="2000"/>
              <a:t>Successfully bridges wireless sensing, PLC data, and monitoring platforms.</a:t>
            </a:r>
          </a:p>
          <a:p>
            <a:pPr/>
            <a:r>
              <a:rPr sz="2000"/>
              <a:t>Architecture is modular and suitable for pilot-to-production growth.</a:t>
            </a:r>
          </a:p>
          <a:p>
            <a:pPr/>
            <a:r>
              <a:rPr sz="2000"/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